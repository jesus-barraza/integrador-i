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5"/>
  </p:notesMasterIdLst>
  <p:handoutMasterIdLst>
    <p:handoutMasterId r:id="rId16"/>
  </p:handoutMasterIdLst>
  <p:sldIdLst>
    <p:sldId id="306" r:id="rId5"/>
    <p:sldId id="308" r:id="rId6"/>
    <p:sldId id="304" r:id="rId7"/>
    <p:sldId id="305" r:id="rId8"/>
    <p:sldId id="310" r:id="rId9"/>
    <p:sldId id="295" r:id="rId10"/>
    <p:sldId id="313" r:id="rId11"/>
    <p:sldId id="303" r:id="rId12"/>
    <p:sldId id="311" r:id="rId13"/>
    <p:sldId id="312" r:id="rId14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11" autoAdjust="0"/>
    <p:restoredTop sz="84967" autoAdjust="0"/>
  </p:normalViewPr>
  <p:slideViewPr>
    <p:cSldViewPr snapToGrid="0">
      <p:cViewPr varScale="1">
        <p:scale>
          <a:sx n="60" d="100"/>
          <a:sy n="60" d="100"/>
        </p:scale>
        <p:origin x="102" y="118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7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CD3759D-E09A-4AE0-A388-1231C4633D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F10A045-7838-4C9C-94BA-7C45047DD3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D9867-113D-473F-8C92-70361E8E0A16}" type="datetime1">
              <a:rPr lang="es-MX" smtClean="0"/>
              <a:t>23/11/2025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1C1BE74-43CC-4E1E-96A1-2915E1DF3C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E2044D-3D0A-45EF-A01C-6FC583A199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B53EA-BA60-486D-BE96-03634DF71F6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94584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1CD03-B6F7-498A-8A73-3ACB21A4B941}" type="datetime1">
              <a:rPr lang="es-MX" smtClean="0"/>
              <a:pPr/>
              <a:t>23/11/2025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316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4434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4691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6986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6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9794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40461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0411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765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s-MX" smtClean="0"/>
              <a:t>10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2614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/>
              <a:t>Haga clic para editar el estilo de subtítulo del patrón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 2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/>
              <a:t>Haz clic para modificar el estilo de subtítulo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áfico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21" name="Gráfico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23" name="Gráfico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olo el 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Título</a:t>
            </a:r>
          </a:p>
        </p:txBody>
      </p:sp>
      <p:sp>
        <p:nvSpPr>
          <p:cNvPr id="3" name="Marcador de posición de fecha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3/9/20XX</a:t>
            </a:r>
          </a:p>
        </p:txBody>
      </p:sp>
      <p:sp>
        <p:nvSpPr>
          <p:cNvPr id="4" name="Marcador de posición de pie de pá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Título de la presentación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tex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MX" noProof="0"/>
              <a:t>Haz clic para modificar los estilos del texto maestro</a:t>
            </a:r>
          </a:p>
        </p:txBody>
      </p:sp>
      <p:sp>
        <p:nvSpPr>
          <p:cNvPr id="11" name="Gráfico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3" name="Gráfico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7" name="Gráfico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es-MX" noProof="0"/>
              <a:t>Haz clic para modificar los estilos del texto maestro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es-MX" noProof="0"/>
              <a:t>3/9/20XX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es-MX" noProof="0"/>
              <a:t>Título de la presentación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áfico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9" name="Gráfico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cabezado de sección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/>
              <a:t>Haz clic para modificar el estilo de subtítulo del patrón</a:t>
            </a:r>
          </a:p>
        </p:txBody>
      </p:sp>
      <p:sp>
        <p:nvSpPr>
          <p:cNvPr id="4" name="Gráfico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5" name="Gráfico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6" name="Gráfico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7" name="Gráfico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1" name="Gráfico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3" name="Gráfico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es-MX" noProof="0"/>
              <a:t>Haz clic para modificar los estilos del texto maestro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noProof="0" smtClean="0"/>
              <a:t>‹Nº›</a:t>
            </a:fld>
            <a:endParaRPr lang="es-MX" noProof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l títul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/>
              <a:t>Haz clic para editar el estilo de subtítulo del patrón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es-MX" noProof="0"/>
              <a:t>Título de la presentación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ítulo y contenid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Título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MX" noProof="0"/>
              <a:t>Haz clic para modificar los estilos del texto maestro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3/9/20XX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Título de la presentación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sp>
        <p:nvSpPr>
          <p:cNvPr id="9" name="Gráfico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1" name="Gráfico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MX" noProof="0"/>
              <a:t>Haz clic para modificar los estilos del texto maestro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MX" noProof="0"/>
              <a:t>Haz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áfico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2" name="Gráfico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4" name="Gráfico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Haz clic para modificar los estilos del texto maestro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MX" noProof="0"/>
              <a:t>Haz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Haz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MX" noProof="0"/>
              <a:t>Haz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áfico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4" name="Gráfico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6" name="Gráfico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Haz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MX" noProof="0"/>
              <a:t>Haz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Haz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MX" noProof="0"/>
              <a:t>Haz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áfico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4" name="Gráfico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6" name="Gráfico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5" name="Marcador de posición de texto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Haz clic para modificar los estilos de texto del patrón</a:t>
            </a:r>
          </a:p>
        </p:txBody>
      </p:sp>
      <p:sp>
        <p:nvSpPr>
          <p:cNvPr id="17" name="Marcador de posición de contenido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es-MX" noProof="0"/>
              <a:t>Haz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es-MX" noProof="0"/>
              <a:t>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/>
              <a:t>Haz clic para modificar el estilo de subtítulo del patrón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es-MX" noProof="0"/>
              <a:t>Título de la presentación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10" name="Marcador de posición de imagen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11" name="Marcador de posición de imagen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arcador de posición de imagen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32" name="Marcador de posición de imagen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31" name="Marcador de posición de imagen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30" name="Marcador de posición de imagen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en el icono para agregar una imagen</a:t>
            </a:r>
            <a:endParaRPr lang="es-MX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fecha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3/9/20XX</a:t>
            </a:r>
          </a:p>
        </p:txBody>
      </p:sp>
      <p:sp>
        <p:nvSpPr>
          <p:cNvPr id="4" name="Marcador de posición de pie de pá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MX" noProof="0"/>
              <a:t>Título de la presentación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sp>
        <p:nvSpPr>
          <p:cNvPr id="8" name="Gráfico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0" name="Gráfico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sp>
        <p:nvSpPr>
          <p:cNvPr id="12" name="Gráfico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s-MX" noProof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tex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MX" noProof="0"/>
              <a:t>Haz clic para modificar los estilos del texto maestro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fecha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/>
              <a:t>3/9/20XX</a:t>
            </a:r>
          </a:p>
        </p:txBody>
      </p:sp>
      <p:sp>
        <p:nvSpPr>
          <p:cNvPr id="4" name="Marcador de posición de pie de página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noProof="0"/>
              <a:t>Título de presentación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noProof="0" smtClean="0"/>
              <a:t>‹Nº›</a:t>
            </a:fld>
            <a:endParaRPr lang="es-MX" noProof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/>
              <a:t>3/9/20XX</a:t>
            </a:r>
          </a:p>
        </p:txBody>
      </p:sp>
      <p:sp>
        <p:nvSpPr>
          <p:cNvPr id="3" name="Marcador de posición de pie de página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noProof="0"/>
              <a:t>Título de presentación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noProof="0" smtClean="0"/>
              <a:t>‹Nº›</a:t>
            </a:fld>
            <a:endParaRPr lang="es-MX" noProof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MX" noProof="0"/>
              <a:t>Haz clic para modificar los estilos del texto maestro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/>
              <a:t>3/9/20XX</a:t>
            </a:r>
          </a:p>
        </p:txBody>
      </p:sp>
      <p:sp>
        <p:nvSpPr>
          <p:cNvPr id="6" name="Marcador de posición de pie de página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noProof="0"/>
              <a:t>Título de presentación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noProof="0" smtClean="0"/>
              <a:t>‹Nº›</a:t>
            </a:fld>
            <a:endParaRPr lang="es-MX" noProof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MX" noProof="0"/>
              <a:t>Haz clic en el ícono para agregar una imagen</a:t>
            </a:r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noProof="0"/>
              <a:t>3/9/20XX</a:t>
            </a:r>
          </a:p>
        </p:txBody>
      </p:sp>
      <p:sp>
        <p:nvSpPr>
          <p:cNvPr id="6" name="Marcador de posición de pie de página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noProof="0"/>
              <a:t>Título de presentación</a:t>
            </a:r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noProof="0" smtClean="0"/>
              <a:t>‹Nº›</a:t>
            </a:fld>
            <a:endParaRPr lang="es-MX" noProof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títu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MX" noProof="0"/>
              <a:t>3/9/20XX</a:t>
            </a: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MX" noProof="0"/>
              <a:t>Título de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s-MX" sz="5400" spc="400" dirty="0">
                <a:solidFill>
                  <a:schemeClr val="bg1"/>
                </a:solidFill>
              </a:rPr>
              <a:t>Programa para el departamento de psico.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2904" y="4138863"/>
            <a:ext cx="4481057" cy="2124778"/>
          </a:xfrm>
        </p:spPr>
        <p:txBody>
          <a:bodyPr rtlCol="0">
            <a:normAutofit/>
          </a:bodyPr>
          <a:lstStyle/>
          <a:p>
            <a:pPr rtl="0"/>
            <a:r>
              <a:rPr lang="es-MX" sz="2000" dirty="0">
                <a:solidFill>
                  <a:schemeClr val="bg1"/>
                </a:solidFill>
              </a:rPr>
              <a:t>Barraza Torres Jesús Daniel</a:t>
            </a:r>
          </a:p>
          <a:p>
            <a:pPr rtl="0"/>
            <a:r>
              <a:rPr lang="es-MX" dirty="0"/>
              <a:t>4° A Bis</a:t>
            </a:r>
          </a:p>
          <a:p>
            <a:pPr rtl="0"/>
            <a:r>
              <a:rPr lang="es-MX" dirty="0"/>
              <a:t>Desarrollo de software multiplataforma</a:t>
            </a:r>
          </a:p>
          <a:p>
            <a:pPr rtl="0"/>
            <a:r>
              <a:rPr lang="es-MX" dirty="0"/>
              <a:t>M.A. RAÚL IVÁN HERRERA GONZÁLE</a:t>
            </a:r>
          </a:p>
          <a:p>
            <a:pPr rtl="0"/>
            <a:endParaRPr lang="es-MX" dirty="0"/>
          </a:p>
        </p:txBody>
      </p:sp>
      <p:pic>
        <p:nvPicPr>
          <p:cNvPr id="4" name="Marcador de posición de imagen 12" descr="Un dibujo de una cara feliz&#10;&#10;El contenido generado por IA puede ser incorrecto.">
            <a:extLst>
              <a:ext uri="{FF2B5EF4-FFF2-40B4-BE49-F238E27FC236}">
                <a16:creationId xmlns:a16="http://schemas.microsoft.com/office/drawing/2014/main" id="{78347FD7-A2F8-139D-CF57-2AA13D4965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81" b="20681"/>
          <a:stretch>
            <a:fillRect/>
          </a:stretch>
        </p:blipFill>
        <p:spPr>
          <a:xfrm>
            <a:off x="1456944" y="4354385"/>
            <a:ext cx="5547309" cy="18891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s-MX" sz="5400" dirty="0"/>
              <a:t>Resumen ejecutivo</a:t>
            </a:r>
            <a:endParaRPr lang="es-MX" dirty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B0881FA9-F3B0-4912-B0E1-352094195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s-MX" sz="2000" dirty="0"/>
              <a:t>Problema: Áreas de oportunidad en la organización de las citas del departamento de psicología.</a:t>
            </a:r>
          </a:p>
          <a:p>
            <a:pPr rtl="0"/>
            <a:r>
              <a:rPr lang="es-MX" dirty="0"/>
              <a:t>Solución propuesta: Programa de citas.</a:t>
            </a:r>
          </a:p>
          <a:p>
            <a:pPr rtl="0"/>
            <a:r>
              <a:rPr lang="es-MX" sz="2000" dirty="0"/>
              <a:t>Beneficio: A los </a:t>
            </a:r>
            <a:r>
              <a:rPr lang="es-MX" dirty="0"/>
              <a:t>del departamento, a los alumnos y a la escuela.</a:t>
            </a:r>
          </a:p>
          <a:p>
            <a:pPr rtl="0"/>
            <a:r>
              <a:rPr lang="es-MX" sz="2000" dirty="0"/>
              <a:t>Resultados cl</a:t>
            </a:r>
            <a:r>
              <a:rPr lang="es-MX" dirty="0"/>
              <a:t>ave: Mejora significativa en la manera de citar y menores pérdidas de tiempo.</a:t>
            </a:r>
            <a:endParaRPr lang="es-MX" sz="2000" dirty="0"/>
          </a:p>
          <a:p>
            <a:pPr rtl="0"/>
            <a:endParaRPr lang="es-MX" dirty="0"/>
          </a:p>
        </p:txBody>
      </p:sp>
      <p:pic>
        <p:nvPicPr>
          <p:cNvPr id="8" name="Marcador de posición de imagen 7" descr="montañas bajo un cielo nocturno justo antes del amanecer">
            <a:extLst>
              <a:ext uri="{FF2B5EF4-FFF2-40B4-BE49-F238E27FC236}">
                <a16:creationId xmlns:a16="http://schemas.microsoft.com/office/drawing/2014/main" id="{B53D1AAB-32B2-4F04-828F-AB1C758AF00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71" r="71"/>
          <a:stretch/>
        </p:blipFill>
        <p:spPr/>
      </p:pic>
      <p:sp>
        <p:nvSpPr>
          <p:cNvPr id="9" name="Marcador de posición de fecha 8">
            <a:extLst>
              <a:ext uri="{FF2B5EF4-FFF2-40B4-BE49-F238E27FC236}">
                <a16:creationId xmlns:a16="http://schemas.microsoft.com/office/drawing/2014/main" id="{D45C472E-4078-40A0-83A2-652E8356E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dirty="0"/>
              <a:t>23/11/25</a:t>
            </a:r>
          </a:p>
        </p:txBody>
      </p:sp>
      <p:sp>
        <p:nvSpPr>
          <p:cNvPr id="10" name="Marcador de posición de pie de página 9">
            <a:extLst>
              <a:ext uri="{FF2B5EF4-FFF2-40B4-BE49-F238E27FC236}">
                <a16:creationId xmlns:a16="http://schemas.microsoft.com/office/drawing/2014/main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dirty="0"/>
              <a:t>Proyecto </a:t>
            </a:r>
            <a:r>
              <a:rPr lang="es-MX"/>
              <a:t>de psicología</a:t>
            </a:r>
            <a:endParaRPr lang="es-MX" dirty="0"/>
          </a:p>
        </p:txBody>
      </p:sp>
      <p:sp>
        <p:nvSpPr>
          <p:cNvPr id="11" name="Marcador de posición de número de diapositiva 10">
            <a:extLst>
              <a:ext uri="{FF2B5EF4-FFF2-40B4-BE49-F238E27FC236}">
                <a16:creationId xmlns:a16="http://schemas.microsoft.com/office/drawing/2014/main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smtClean="0"/>
              <a:pPr rtl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MX" sz="5400" dirty="0"/>
              <a:t>Análisis del entorno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3631" y="1278732"/>
            <a:ext cx="4549775" cy="823912"/>
          </a:xfrm>
        </p:spPr>
        <p:txBody>
          <a:bodyPr rtlCol="0"/>
          <a:lstStyle/>
          <a:p>
            <a:pPr rtl="0"/>
            <a:r>
              <a:rPr lang="es-MX" dirty="0"/>
              <a:t>Contexto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83631" y="2102644"/>
            <a:ext cx="4549775" cy="3684588"/>
          </a:xfrm>
        </p:spPr>
        <p:txBody>
          <a:bodyPr rtlCol="0">
            <a:normAutofit/>
          </a:bodyPr>
          <a:lstStyle/>
          <a:p>
            <a:pPr rtl="0"/>
            <a:r>
              <a:rPr lang="es-MX" dirty="0"/>
              <a:t>Uno de los determinantes de la calidad del estudio universitario se basa en su salud mental.</a:t>
            </a:r>
          </a:p>
          <a:p>
            <a:pPr rtl="0"/>
            <a:r>
              <a:rPr lang="es-MX" sz="2000" dirty="0"/>
              <a:t>En México, la financiación de los universitarios es bajo.</a:t>
            </a:r>
          </a:p>
          <a:p>
            <a:pPr rtl="0"/>
            <a:r>
              <a:rPr lang="es-MX" dirty="0"/>
              <a:t>Es conocido la idea de la optimización por programas o SAAS.</a:t>
            </a:r>
            <a:endParaRPr lang="es-MX" sz="2000" dirty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2347FB98-C049-45C5-86B4-4CF44B247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0030" y="1301041"/>
            <a:ext cx="4572182" cy="823912"/>
          </a:xfrm>
        </p:spPr>
        <p:txBody>
          <a:bodyPr rtlCol="0"/>
          <a:lstStyle/>
          <a:p>
            <a:pPr rtl="0"/>
            <a:r>
              <a:rPr lang="es-MX" dirty="0"/>
              <a:t>Diagnóstico del problema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5A74CB9D-E60B-4C8A-B4E7-23BC1D9FA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0030" y="2124953"/>
            <a:ext cx="4572182" cy="3684588"/>
          </a:xfrm>
        </p:spPr>
        <p:txBody>
          <a:bodyPr rtlCol="0">
            <a:normAutofit/>
          </a:bodyPr>
          <a:lstStyle/>
          <a:p>
            <a:pPr rtl="0"/>
            <a:r>
              <a:rPr lang="es-MX" dirty="0"/>
              <a:t>Los motivos principales para el retraso del servicio se basa en la compilación de citas y el contacto con tutores.</a:t>
            </a:r>
          </a:p>
          <a:p>
            <a:pPr rtl="0"/>
            <a:r>
              <a:rPr lang="es-MX" sz="2000" dirty="0"/>
              <a:t>Hay solución parcial de SW actualmente en base a Excel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ED2A3887-95CB-8A19-02C0-5F0D20ABC7A1}"/>
              </a:ext>
            </a:extLst>
          </p:cNvPr>
          <p:cNvSpPr/>
          <p:nvPr/>
        </p:nvSpPr>
        <p:spPr>
          <a:xfrm>
            <a:off x="5358063" y="5197642"/>
            <a:ext cx="2101516" cy="10461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Importancia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4E44393-775B-F117-A7BE-14BC9F367CBB}"/>
              </a:ext>
            </a:extLst>
          </p:cNvPr>
          <p:cNvSpPr/>
          <p:nvPr/>
        </p:nvSpPr>
        <p:spPr>
          <a:xfrm>
            <a:off x="1887838" y="5308768"/>
            <a:ext cx="2759242" cy="100154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Trabajadores del departamento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E00D521-01A6-EB7D-3517-308A6383E0C1}"/>
              </a:ext>
            </a:extLst>
          </p:cNvPr>
          <p:cNvSpPr/>
          <p:nvPr/>
        </p:nvSpPr>
        <p:spPr>
          <a:xfrm>
            <a:off x="8382404" y="5286459"/>
            <a:ext cx="2759242" cy="100154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Directivos de la institución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9ACB788-66A6-B44A-0FBE-CD6C76D4D966}"/>
              </a:ext>
            </a:extLst>
          </p:cNvPr>
          <p:cNvSpPr/>
          <p:nvPr/>
        </p:nvSpPr>
        <p:spPr>
          <a:xfrm>
            <a:off x="5562600" y="3990118"/>
            <a:ext cx="1692442" cy="1001546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Alumnos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D5052B1-908E-0B2B-7EE1-057BFD6CD214}"/>
              </a:ext>
            </a:extLst>
          </p:cNvPr>
          <p:cNvCxnSpPr>
            <a:cxnSpLocks/>
            <a:stCxn id="8" idx="6"/>
            <a:endCxn id="7" idx="2"/>
          </p:cNvCxnSpPr>
          <p:nvPr/>
        </p:nvCxnSpPr>
        <p:spPr>
          <a:xfrm flipV="1">
            <a:off x="4647080" y="5720724"/>
            <a:ext cx="710983" cy="888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6D094C6-FFA3-3486-4312-D9429F938FFC}"/>
              </a:ext>
            </a:extLst>
          </p:cNvPr>
          <p:cNvCxnSpPr>
            <a:stCxn id="10" idx="4"/>
            <a:endCxn id="7" idx="0"/>
          </p:cNvCxnSpPr>
          <p:nvPr/>
        </p:nvCxnSpPr>
        <p:spPr>
          <a:xfrm>
            <a:off x="6408821" y="4991664"/>
            <a:ext cx="0" cy="205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45D22FBF-7FF1-40DA-2CC3-E71024C43062}"/>
              </a:ext>
            </a:extLst>
          </p:cNvPr>
          <p:cNvCxnSpPr>
            <a:stCxn id="9" idx="2"/>
            <a:endCxn id="7" idx="6"/>
          </p:cNvCxnSpPr>
          <p:nvPr/>
        </p:nvCxnSpPr>
        <p:spPr>
          <a:xfrm flipH="1" flipV="1">
            <a:off x="7459579" y="5720724"/>
            <a:ext cx="922825" cy="66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766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10" y="0"/>
            <a:ext cx="10515600" cy="823913"/>
          </a:xfrm>
        </p:spPr>
        <p:txBody>
          <a:bodyPr rtlCol="0">
            <a:normAutofit fontScale="90000"/>
          </a:bodyPr>
          <a:lstStyle/>
          <a:p>
            <a:pPr rtl="0"/>
            <a:r>
              <a:rPr lang="es-MX" sz="5400" dirty="0"/>
              <a:t>Definición del problema y SMART 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14ABC42-7E22-4F59-A0B6-AD98B5CAE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821" y="823913"/>
            <a:ext cx="2834640" cy="823912"/>
          </a:xfrm>
        </p:spPr>
        <p:txBody>
          <a:bodyPr rtlCol="0">
            <a:normAutofit/>
          </a:bodyPr>
          <a:lstStyle/>
          <a:p>
            <a:pPr rtl="0"/>
            <a:r>
              <a:rPr lang="es-MX" dirty="0"/>
              <a:t>Problemas específicos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821" y="1647825"/>
            <a:ext cx="2834640" cy="2025817"/>
          </a:xfrm>
        </p:spPr>
        <p:txBody>
          <a:bodyPr rtlCol="0">
            <a:normAutofit/>
          </a:bodyPr>
          <a:lstStyle/>
          <a:p>
            <a:pPr rtl="0"/>
            <a:r>
              <a:rPr lang="es-MX" sz="2000" dirty="0"/>
              <a:t>Problemas específicos en la recopilación de citas</a:t>
            </a:r>
          </a:p>
          <a:p>
            <a:pPr rtl="0"/>
            <a:r>
              <a:rPr lang="es-MX" sz="2000" dirty="0"/>
              <a:t>Bajo contacto con los tutores.</a:t>
            </a:r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2347FB98-C049-45C5-86B4-4CF44B247B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3821" y="3525253"/>
            <a:ext cx="2834640" cy="823912"/>
          </a:xfrm>
        </p:spPr>
        <p:txBody>
          <a:bodyPr rtlCol="0">
            <a:normAutofit/>
          </a:bodyPr>
          <a:lstStyle/>
          <a:p>
            <a:pPr rtl="0"/>
            <a:r>
              <a:rPr lang="es-MX" dirty="0"/>
              <a:t>Objetivo general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5A74CB9D-E60B-4C8A-B4E7-23BC1D9FA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821" y="4349165"/>
            <a:ext cx="2834640" cy="2340393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es-MX" sz="2000" dirty="0"/>
              <a:t>El objetivo general es el de crear un problema que apoye al departamento de psicopedagogía para su desarrollo.</a:t>
            </a:r>
          </a:p>
        </p:txBody>
      </p:sp>
      <p:sp>
        <p:nvSpPr>
          <p:cNvPr id="11" name="Marcador de posición de texto 4">
            <a:extLst>
              <a:ext uri="{FF2B5EF4-FFF2-40B4-BE49-F238E27FC236}">
                <a16:creationId xmlns:a16="http://schemas.microsoft.com/office/drawing/2014/main" id="{CE6B5B72-43F9-4438-A504-FD3C083AB96D}"/>
              </a:ext>
            </a:extLst>
          </p:cNvPr>
          <p:cNvSpPr txBox="1">
            <a:spLocks/>
          </p:cNvSpPr>
          <p:nvPr/>
        </p:nvSpPr>
        <p:spPr>
          <a:xfrm>
            <a:off x="3801177" y="823913"/>
            <a:ext cx="7560333" cy="3609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s-MX" dirty="0"/>
              <a:t>Objetivos SMART</a:t>
            </a:r>
          </a:p>
        </p:txBody>
      </p:sp>
      <p:sp>
        <p:nvSpPr>
          <p:cNvPr id="13" name="Marcador de posición de contenido 5">
            <a:extLst>
              <a:ext uri="{FF2B5EF4-FFF2-40B4-BE49-F238E27FC236}">
                <a16:creationId xmlns:a16="http://schemas.microsoft.com/office/drawing/2014/main" id="{DE486408-F529-4D60-A080-911A0851FE1B}"/>
              </a:ext>
            </a:extLst>
          </p:cNvPr>
          <p:cNvSpPr txBox="1">
            <a:spLocks/>
          </p:cNvSpPr>
          <p:nvPr/>
        </p:nvSpPr>
        <p:spPr>
          <a:xfrm>
            <a:off x="3528461" y="1184860"/>
            <a:ext cx="8663539" cy="55046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Diseñar un programa web para el registro de citas: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S: Diseñar un programa de escritorio para el registro de citas, contando con los procedimientos que el psicopedagogo necesita. 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M: Un programa tangible que acceda a un servidor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A: Es posible realizar un programa según los paradigmas a disposición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R: Es el proyecto principal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T: Fecha límite: Diciembre del 2025</a:t>
            </a:r>
          </a:p>
          <a:p>
            <a:pPr marL="0" lvl="0" indent="0" algn="just">
              <a:lnSpc>
                <a:spcPct val="150000"/>
              </a:lnSpc>
              <a:buNone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Diseñar un manual de uso: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S: Diseñar un manual de usuario para el programa de psicopedagogía de la UTD. 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M: Un documento tangible, lo suficientemente detallado para ocupar mínimo 10 páginas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A: Documento del programa, va a la par con el mismo para su uso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R: Forma parte de la creación del proyecto principal, es utilizado para el aprendizaje del cliente en el manejo de SW</a:t>
            </a:r>
          </a:p>
          <a:p>
            <a:pPr marL="342900" lvl="0" indent="-342900" algn="just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T: Fecha límite: Diciembre del 2025</a:t>
            </a:r>
          </a:p>
        </p:txBody>
      </p:sp>
    </p:spTree>
    <p:extLst>
      <p:ext uri="{BB962C8B-B14F-4D97-AF65-F5344CB8AC3E}">
        <p14:creationId xmlns:p14="http://schemas.microsoft.com/office/powerpoint/2010/main" val="140345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DFB95-2803-4882-8DE6-333A75D3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7314" y="301752"/>
            <a:ext cx="4666486" cy="1109953"/>
          </a:xfrm>
        </p:spPr>
        <p:txBody>
          <a:bodyPr rtlCol="0">
            <a:normAutofit fontScale="90000"/>
          </a:bodyPr>
          <a:lstStyle/>
          <a:p>
            <a:pPr rtl="0"/>
            <a:r>
              <a:rPr lang="es-MX" dirty="0"/>
              <a:t>Requisitos funcionales y no funcionales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FC25C2-2815-4A92-A043-0CEC83591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4357" y="1411705"/>
            <a:ext cx="4359441" cy="5144543"/>
          </a:xfrm>
        </p:spPr>
        <p:txBody>
          <a:bodyPr rtlCol="0">
            <a:normAutofit fontScale="92500" lnSpcReduction="10000"/>
          </a:bodyPr>
          <a:lstStyle/>
          <a:p>
            <a:pPr indent="450215" algn="just">
              <a:lnSpc>
                <a:spcPct val="150000"/>
              </a:lnSpc>
              <a:spcAft>
                <a:spcPts val="800"/>
              </a:spcAft>
            </a:pPr>
            <a:r>
              <a:rPr lang="es-MX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Requisitos funcionales:</a:t>
            </a:r>
            <a:endParaRPr lang="es-MX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-"/>
            </a:pPr>
            <a:r>
              <a:rPr lang="es-MX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 código guarda datos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-"/>
            </a:pPr>
            <a:r>
              <a:rPr lang="es-MX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 código exporta datos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-"/>
            </a:pPr>
            <a:r>
              <a:rPr lang="es-MX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Funciones de insertar, borrar, mostrar, actualizar y buscar/filtrar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-"/>
            </a:pPr>
            <a:r>
              <a:rPr lang="es-MX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Crear el archivo de escritorio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s-MX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Generar un manual completo</a:t>
            </a:r>
          </a:p>
          <a:p>
            <a:pPr lvl="0" algn="just">
              <a:lnSpc>
                <a:spcPct val="150000"/>
              </a:lnSpc>
              <a:spcAft>
                <a:spcPts val="800"/>
              </a:spcAft>
            </a:pPr>
            <a:r>
              <a:rPr lang="es-MX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Requisitos no funcionales:</a:t>
            </a:r>
            <a:endParaRPr lang="es-MX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-"/>
            </a:pPr>
            <a:r>
              <a:rPr lang="es-MX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 interfaz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-"/>
            </a:pPr>
            <a:r>
              <a:rPr lang="es-MX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Mensajes de confirmación por acción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buFont typeface="Aptos" panose="020B0004020202020204" pitchFamily="34" charset="0"/>
              <a:buChar char="-"/>
            </a:pPr>
            <a:r>
              <a:rPr lang="es-MX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Formato de la exportación</a:t>
            </a:r>
          </a:p>
          <a:p>
            <a:pPr marL="342900" lvl="0" indent="-342900" algn="just">
              <a:lnSpc>
                <a:spcPct val="120000"/>
              </a:lnSpc>
              <a:spcBef>
                <a:spcPts val="600"/>
              </a:spcBef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s-MX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Mensajes de bienvenida y salida al iniciar sesión/registrarse</a:t>
            </a:r>
          </a:p>
        </p:txBody>
      </p:sp>
      <p:sp>
        <p:nvSpPr>
          <p:cNvPr id="9" name="Marcador de posición de pie de página 8">
            <a:extLst>
              <a:ext uri="{FF2B5EF4-FFF2-40B4-BE49-F238E27FC236}">
                <a16:creationId xmlns:a16="http://schemas.microsoft.com/office/drawing/2014/main" id="{A2055D38-CE59-4FC4-85CE-CF9DA81D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dirty="0"/>
              <a:t>Programa de psicología</a:t>
            </a:r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FE0D311A-C366-4A86-9404-C0F5CBF9C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smtClean="0"/>
              <a:pPr rtl="0"/>
              <a:t>5</a:t>
            </a:fld>
            <a:endParaRPr lang="es-MX" dirty="0"/>
          </a:p>
        </p:txBody>
      </p:sp>
      <p:pic>
        <p:nvPicPr>
          <p:cNvPr id="6" name="Imagen 5" descr="Imagen que contiene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3168C125-31FE-F46D-E891-D093980E0D3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9" t="2673" r="15969" b="348"/>
          <a:stretch/>
        </p:blipFill>
        <p:spPr bwMode="auto">
          <a:xfrm>
            <a:off x="531158" y="268705"/>
            <a:ext cx="4666486" cy="31602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D78AEC5A-A96F-78FF-5BDD-0A28BACBA0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2" r="19741"/>
          <a:stretch/>
        </p:blipFill>
        <p:spPr bwMode="auto">
          <a:xfrm>
            <a:off x="531159" y="3675831"/>
            <a:ext cx="4666486" cy="29134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6147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5E27C7C-4B68-4BBC-BF36-8959D8493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MX" sz="5400" dirty="0"/>
              <a:t>Cronograma del proyecto</a:t>
            </a:r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4ECDE54D-4BD2-4764-A36A-8487DB61E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D8DA9DAA-006C-4F4B-980E-E3DF019B24E2}" type="slidenum">
              <a:rPr lang="es-MX" b="1" cap="all" spc="100" smtClean="0">
                <a:solidFill>
                  <a:schemeClr val="accent2"/>
                </a:solidFill>
              </a:rPr>
              <a:t>6</a:t>
            </a:fld>
            <a:endParaRPr lang="es-MX" b="1" cap="all" spc="100">
              <a:solidFill>
                <a:schemeClr val="accent2"/>
              </a:solidFill>
            </a:endParaRPr>
          </a:p>
        </p:txBody>
      </p:sp>
      <p:pic>
        <p:nvPicPr>
          <p:cNvPr id="8" name="Marcador de contenido 7" descr="Gráfico, Escala de tiempo&#10;&#10;El contenido generado por IA puede ser incorrecto.">
            <a:extLst>
              <a:ext uri="{FF2B5EF4-FFF2-40B4-BE49-F238E27FC236}">
                <a16:creationId xmlns:a16="http://schemas.microsoft.com/office/drawing/2014/main" id="{403082FE-9C85-4FA6-59EE-CDEF818A0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73203" y="1825625"/>
            <a:ext cx="8445594" cy="4351338"/>
          </a:xfrm>
        </p:spPr>
      </p:pic>
    </p:spTree>
    <p:extLst>
      <p:ext uri="{BB962C8B-B14F-4D97-AF65-F5344CB8AC3E}">
        <p14:creationId xmlns:p14="http://schemas.microsoft.com/office/powerpoint/2010/main" val="27782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F287FE-1EFA-4C15-BFDD-1EE3F2D37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dirty="0"/>
              <a:t>Diseño del </a:t>
            </a:r>
            <a:r>
              <a:rPr lang="es-MX" dirty="0" err="1"/>
              <a:t>front</a:t>
            </a:r>
            <a:r>
              <a:rPr lang="es-MX" dirty="0"/>
              <a:t> </a:t>
            </a:r>
            <a:r>
              <a:rPr lang="es-MX" dirty="0" err="1"/>
              <a:t>end</a:t>
            </a:r>
            <a:endParaRPr lang="es-MX" dirty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63B7C214-9C4B-410D-816A-6B3C8059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dirty="0"/>
              <a:t>Programa de psicología</a:t>
            </a:r>
          </a:p>
        </p:txBody>
      </p:sp>
      <p:sp>
        <p:nvSpPr>
          <p:cNvPr id="4" name="Marcador de posición de fecha 3">
            <a:extLst>
              <a:ext uri="{FF2B5EF4-FFF2-40B4-BE49-F238E27FC236}">
                <a16:creationId xmlns:a16="http://schemas.microsoft.com/office/drawing/2014/main" id="{2F8D5D16-EDC5-46DE-A0B9-0765F4F59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dirty="0"/>
              <a:t>23/11/25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DE31DF2-0419-4016-924C-21929AC1E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smtClean="0"/>
              <a:pPr rtl="0"/>
              <a:t>7</a:t>
            </a:fld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E0BDFE1-CBAD-8116-7620-53D5FA395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04" y="1455873"/>
            <a:ext cx="11487591" cy="490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28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85278-3D07-466F-8351-667A2EBE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s-MX" dirty="0"/>
              <a:t>Diseño del </a:t>
            </a:r>
            <a:r>
              <a:rPr lang="es-MX" dirty="0" err="1"/>
              <a:t>backend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AB55FF1C-3CBD-419A-9DE4-7A8AA637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fld id="{D8DA9DAA-006C-4F4B-980E-E3DF019B24E2}" type="slidenum">
              <a:rPr lang="es-MX" b="1" cap="all" spc="100" smtClean="0">
                <a:solidFill>
                  <a:schemeClr val="accent2"/>
                </a:solidFill>
              </a:rPr>
              <a:pPr rtl="0">
                <a:spcAft>
                  <a:spcPts val="600"/>
                </a:spcAft>
              </a:pPr>
              <a:t>8</a:t>
            </a:fld>
            <a:endParaRPr lang="es-MX" b="1" cap="all" spc="100" dirty="0">
              <a:solidFill>
                <a:schemeClr val="accent2"/>
              </a:solidFill>
            </a:endParaRPr>
          </a:p>
        </p:txBody>
      </p:sp>
      <p:pic>
        <p:nvPicPr>
          <p:cNvPr id="7" name="Imagen 6" descr="Interfaz de usuario gráfica, Aplicación, Sitio web&#10;&#10;El contenido generado por IA puede ser incorrecto.">
            <a:extLst>
              <a:ext uri="{FF2B5EF4-FFF2-40B4-BE49-F238E27FC236}">
                <a16:creationId xmlns:a16="http://schemas.microsoft.com/office/drawing/2014/main" id="{9349E03A-F626-6581-8CE8-3C87C7DEB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157" y="1485107"/>
            <a:ext cx="4497443" cy="507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88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9FB28F-C9D7-439B-B863-44B4E851A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s-MX" dirty="0"/>
              <a:t>Infraestructura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50061247-EA4F-4DFA-AFCE-648487762C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s-MX" dirty="0"/>
              <a:t>Sistema operativo: Windows preferentemente.</a:t>
            </a:r>
          </a:p>
          <a:p>
            <a:pPr rtl="0"/>
            <a:r>
              <a:rPr lang="es-MX" dirty="0"/>
              <a:t>Lenguajes, librerías y </a:t>
            </a:r>
            <a:r>
              <a:rPr lang="es-MX" dirty="0" err="1"/>
              <a:t>frameworks</a:t>
            </a:r>
            <a:r>
              <a:rPr lang="es-MX" dirty="0"/>
              <a:t>: </a:t>
            </a:r>
            <a:r>
              <a:rPr lang="es-MX" dirty="0" err="1"/>
              <a:t>Tkinter</a:t>
            </a:r>
            <a:r>
              <a:rPr lang="es-MX" dirty="0"/>
              <a:t>, </a:t>
            </a:r>
            <a:r>
              <a:rPr lang="es-MX" dirty="0" err="1"/>
              <a:t>Custom</a:t>
            </a:r>
            <a:r>
              <a:rPr lang="es-MX" dirty="0"/>
              <a:t> </a:t>
            </a:r>
            <a:r>
              <a:rPr lang="es-MX" dirty="0" err="1"/>
              <a:t>Tkinter</a:t>
            </a:r>
            <a:r>
              <a:rPr lang="es-MX" dirty="0"/>
              <a:t>.</a:t>
            </a:r>
          </a:p>
          <a:p>
            <a:pPr rtl="0"/>
            <a:r>
              <a:rPr lang="es-MX" dirty="0"/>
              <a:t>También se anda usando </a:t>
            </a:r>
            <a:r>
              <a:rPr lang="es-MX" dirty="0" err="1"/>
              <a:t>Mysql</a:t>
            </a:r>
            <a:r>
              <a:rPr lang="es-MX" dirty="0"/>
              <a:t> en uso.</a:t>
            </a:r>
          </a:p>
        </p:txBody>
      </p:sp>
      <p:sp>
        <p:nvSpPr>
          <p:cNvPr id="23" name="Marcador de posición de pie de página 22">
            <a:extLst>
              <a:ext uri="{FF2B5EF4-FFF2-40B4-BE49-F238E27FC236}">
                <a16:creationId xmlns:a16="http://schemas.microsoft.com/office/drawing/2014/main" id="{249ACE4E-0038-4BA2-8883-8C3F73B7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dirty="0"/>
              <a:t>Programa de psicología</a:t>
            </a:r>
          </a:p>
        </p:txBody>
      </p:sp>
      <p:sp>
        <p:nvSpPr>
          <p:cNvPr id="24" name="Marcador de posición de número de diapositiva 23">
            <a:extLst>
              <a:ext uri="{FF2B5EF4-FFF2-40B4-BE49-F238E27FC236}">
                <a16:creationId xmlns:a16="http://schemas.microsoft.com/office/drawing/2014/main" id="{9A686A52-7630-4675-B383-8C2AD252E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smtClean="0"/>
              <a:pPr rtl="0"/>
              <a:t>9</a:t>
            </a:fld>
            <a:endParaRPr lang="es-MX"/>
          </a:p>
        </p:txBody>
      </p:sp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55DD8172-EE43-7061-E275-B85BC22E9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0"/>
            <a:ext cx="41368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72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Marcador de posición de fecha 21">
            <a:extLst>
              <a:ext uri="{FF2B5EF4-FFF2-40B4-BE49-F238E27FC236}">
                <a16:creationId xmlns:a16="http://schemas.microsoft.com/office/drawing/2014/main" id="{692474E6-3035-46B8-9C05-9B4204E8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MX" dirty="0"/>
              <a:t>23/11/25</a:t>
            </a:r>
          </a:p>
        </p:txBody>
      </p:sp>
      <p:sp>
        <p:nvSpPr>
          <p:cNvPr id="24" name="Marcador de posición de número de diapositiva 23">
            <a:extLst>
              <a:ext uri="{FF2B5EF4-FFF2-40B4-BE49-F238E27FC236}">
                <a16:creationId xmlns:a16="http://schemas.microsoft.com/office/drawing/2014/main" id="{5D838446-B95D-4AB7-B8CA-D5804BB7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s-MX" smtClean="0"/>
              <a:pPr rtl="0"/>
              <a:t>10</a:t>
            </a:fld>
            <a:endParaRPr lang="es-MX"/>
          </a:p>
        </p:txBody>
      </p:sp>
      <p:sp>
        <p:nvSpPr>
          <p:cNvPr id="23" name="Marcador de posición de pie de página 22">
            <a:extLst>
              <a:ext uri="{FF2B5EF4-FFF2-40B4-BE49-F238E27FC236}">
                <a16:creationId xmlns:a16="http://schemas.microsoft.com/office/drawing/2014/main" id="{DE8D546E-0F46-4CC0-B2B1-8B2430D0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MX" dirty="0"/>
              <a:t>Programa de psicología</a:t>
            </a:r>
          </a:p>
        </p:txBody>
      </p:sp>
      <p:pic>
        <p:nvPicPr>
          <p:cNvPr id="9" name="Marcador de posición de imagen 8" descr="montañas al atardecer">
            <a:extLst>
              <a:ext uri="{FF2B5EF4-FFF2-40B4-BE49-F238E27FC236}">
                <a16:creationId xmlns:a16="http://schemas.microsoft.com/office/drawing/2014/main" id="{C82DA925-978C-48A9-98AD-0653B7A3D2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41" b="41"/>
          <a:stretch/>
        </p:blipFill>
        <p:spPr/>
      </p:pic>
      <p:pic>
        <p:nvPicPr>
          <p:cNvPr id="11" name="Marcador de posición de imagen 10" descr="montañas al atardecer">
            <a:extLst>
              <a:ext uri="{FF2B5EF4-FFF2-40B4-BE49-F238E27FC236}">
                <a16:creationId xmlns:a16="http://schemas.microsoft.com/office/drawing/2014/main" id="{E63B7C3F-04A4-43F6-881D-FA11061CBA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/>
          <a:srcRect t="347" b="347"/>
          <a:stretch/>
        </p:blipFill>
        <p:spPr/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FF777B66-94CB-491C-AC6B-BDAC98E21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dirty="0"/>
              <a:t>Gracias</a:t>
            </a:r>
          </a:p>
        </p:txBody>
      </p:sp>
      <p:sp>
        <p:nvSpPr>
          <p:cNvPr id="7" name="Marcador de posición de texto 6">
            <a:extLst>
              <a:ext uri="{FF2B5EF4-FFF2-40B4-BE49-F238E27FC236}">
                <a16:creationId xmlns:a16="http://schemas.microsoft.com/office/drawing/2014/main" id="{42AF1107-8D35-4E35-93C7-D3640946F7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s-MX" dirty="0"/>
              <a:t>Barraza Torres Jesús Daniel</a:t>
            </a:r>
          </a:p>
          <a:p>
            <a:pPr rtl="0"/>
            <a:r>
              <a:rPr lang="es-MX" dirty="0"/>
              <a:t>Jesus_3141240166@utd.edu.mx</a:t>
            </a:r>
          </a:p>
          <a:p>
            <a:pPr rtl="0"/>
            <a:r>
              <a:rPr lang="es-MX" dirty="0"/>
              <a:t>No tengo sitio web </a:t>
            </a:r>
            <a:r>
              <a:rPr lang="es-MX" dirty="0" err="1"/>
              <a:t>xd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5" name="Marcador de posición de imagen 14" descr="montañas bajo el cielo justo antes del anochecer">
            <a:extLst>
              <a:ext uri="{FF2B5EF4-FFF2-40B4-BE49-F238E27FC236}">
                <a16:creationId xmlns:a16="http://schemas.microsoft.com/office/drawing/2014/main" id="{3D15FDC1-74B5-4FD8-BD17-0E2502C411A6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5"/>
          <a:srcRect l="16" r="16"/>
          <a:stretch/>
        </p:blipFill>
        <p:spPr/>
      </p:pic>
      <p:pic>
        <p:nvPicPr>
          <p:cNvPr id="13" name="Marcador de posición de imagen 12" descr="montañas bajo un cielo nocturno justo antes del amanecer">
            <a:extLst>
              <a:ext uri="{FF2B5EF4-FFF2-40B4-BE49-F238E27FC236}">
                <a16:creationId xmlns:a16="http://schemas.microsoft.com/office/drawing/2014/main" id="{E02C4914-F076-4415-9C5D-A9BDB6CC611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/>
          <a:srcRect t="108" b="108"/>
          <a:stretch/>
        </p:blipFill>
        <p:spPr/>
      </p:pic>
    </p:spTree>
    <p:extLst>
      <p:ext uri="{BB962C8B-B14F-4D97-AF65-F5344CB8AC3E}">
        <p14:creationId xmlns:p14="http://schemas.microsoft.com/office/powerpoint/2010/main" val="92731315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88_TF89338750_Win32" id="{99642FD9-2D40-4169-AF7A-B31F6C9CC1AE}" vid="{D727949C-CFAC-4660-B9F1-1FD59523C61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{39003C7F-3C9E-4358-9CA7-28DBA8B19C31}tf89338750_win32</Template>
  <TotalTime>65</TotalTime>
  <Words>517</Words>
  <Application>Microsoft Office PowerPoint</Application>
  <PresentationFormat>Panorámica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Symbol</vt:lpstr>
      <vt:lpstr>Times New Roman</vt:lpstr>
      <vt:lpstr>Univers</vt:lpstr>
      <vt:lpstr>GradientUnivers</vt:lpstr>
      <vt:lpstr>Programa para el departamento de psico.</vt:lpstr>
      <vt:lpstr>Resumen ejecutivo</vt:lpstr>
      <vt:lpstr>Análisis del entorno</vt:lpstr>
      <vt:lpstr>Definición del problema y SMART </vt:lpstr>
      <vt:lpstr>Requisitos funcionales y no funcionales</vt:lpstr>
      <vt:lpstr>Cronograma del proyecto</vt:lpstr>
      <vt:lpstr>Diseño del front end</vt:lpstr>
      <vt:lpstr>Diseño del backend</vt:lpstr>
      <vt:lpstr>Infraestructura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Jesús Barraza</dc:creator>
  <cp:lastModifiedBy>Jesús Barraza</cp:lastModifiedBy>
  <cp:revision>1</cp:revision>
  <dcterms:created xsi:type="dcterms:W3CDTF">2025-11-24T04:33:47Z</dcterms:created>
  <dcterms:modified xsi:type="dcterms:W3CDTF">2025-11-24T05:39:06Z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