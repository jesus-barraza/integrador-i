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57" r:id="rId5"/>
    <p:sldId id="384" r:id="rId6"/>
    <p:sldId id="279" r:id="rId7"/>
    <p:sldId id="392" r:id="rId8"/>
    <p:sldId id="270" r:id="rId9"/>
    <p:sldId id="321" r:id="rId10"/>
    <p:sldId id="393" r:id="rId11"/>
    <p:sldId id="395" r:id="rId12"/>
    <p:sldId id="396" r:id="rId13"/>
    <p:sldId id="398" r:id="rId14"/>
    <p:sldId id="399" r:id="rId15"/>
    <p:sldId id="400" r:id="rId16"/>
    <p:sldId id="391" r:id="rId17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3725" autoAdjust="0"/>
  </p:normalViewPr>
  <p:slideViewPr>
    <p:cSldViewPr snapToGrid="0">
      <p:cViewPr>
        <p:scale>
          <a:sx n="66" d="100"/>
          <a:sy n="66" d="100"/>
        </p:scale>
        <p:origin x="1483" y="41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1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CA2E8D-45A3-4C48-9625-891692387AEA}" type="datetime1">
              <a:rPr lang="es-MX" smtClean="0"/>
              <a:t>08/12/2025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3C4DD5-6CE3-47E7-95E8-166693B65D37}" type="datetime1">
              <a:rPr lang="es-MX" smtClean="0"/>
              <a:t>08/12/2025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1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5707CC-89EA-43A2-BEC7-ACC1C58A42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72653C4-4721-4992-BEFD-5B63D45D1ED1}" type="datetime1">
              <a:rPr lang="es-MX" smtClean="0"/>
              <a:t>08/12/2025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2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6832E2-5B1D-4962-A274-3310C4DDF33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564FDC4-CA6D-4AC4-B464-B971E2D4C2AE}" type="datetime1">
              <a:rPr lang="es-MX" smtClean="0"/>
              <a:t>08/12/2025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5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5756AF-9889-4922-83D9-FDD460AD86A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D1898D5-C4A1-4E03-8125-40FE5A414BEE}" type="datetime1">
              <a:rPr lang="es-MX" smtClean="0"/>
              <a:t>08/12/2025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30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6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536ED5-5FB8-4604-810C-4003294F53E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7D4F21E-2E00-46B6-BC42-1F3F31D89FA8}" type="datetime1">
              <a:rPr lang="es-MX" smtClean="0"/>
              <a:t>08/12/2025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s-MX" sz="4800"/>
              <a:t>Flotante en 3D</a:t>
            </a:r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es-MX"/>
              <a:t>Haz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es-MX" sz="1600"/>
              <a:t>Haz clic para agregar texto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8" name="Marcador de posición de imagen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9" name="Marcador de posición de imagen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0" name="Marcador de posición de imagen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lt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lt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ínea del tiempo de la tabla y el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b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0" name="Forma lib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1" name="Forma lib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12" name="Elipse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s-MX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es-MX"/>
              <a:t>Equipo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56" name="Marcador de posición de imagen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57" name="Marcador de posición de imagen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58" name="Marcador de posición de imagen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 dirty="0"/>
          </a:p>
        </p:txBody>
      </p:sp>
      <p:sp>
        <p:nvSpPr>
          <p:cNvPr id="59" name="Marcador de posición de imagen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1" name="Marcador de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5" name="Marcador de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4" name="Marcador de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7" name="Marcador de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6" name="Marcador de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9" name="Marcador de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8" name="Marcador de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lumna de contenido 2 (diapositiva de comparació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Muestra de texto de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conteni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MX"/>
              <a:t>Haz clic para EDITAR</a:t>
            </a:r>
          </a:p>
        </p:txBody>
      </p:sp>
      <p:sp>
        <p:nvSpPr>
          <p:cNvPr id="21" name="Marcador de conteni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 dirty="0"/>
          </a:p>
        </p:txBody>
      </p:sp>
      <p:sp>
        <p:nvSpPr>
          <p:cNvPr id="42" name="Marcador de posición de imagen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es-MX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s-MX"/>
              <a:t>Ejemplo de Texto al pie de página</a:t>
            </a:r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MX" smtClean="0"/>
              <a:pPr rtl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MX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6142" y="451413"/>
            <a:ext cx="4409954" cy="2985036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es-MX" dirty="0"/>
              <a:t>Integrative Project: </a:t>
            </a:r>
            <a:r>
              <a:rPr lang="es-MX" dirty="0" err="1"/>
              <a:t>System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psycho-pedagogy</a:t>
            </a:r>
            <a:r>
              <a:rPr lang="es-MX" dirty="0"/>
              <a:t> </a:t>
            </a:r>
            <a:r>
              <a:rPr lang="es-MX" dirty="0" err="1"/>
              <a:t>department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Barraza Torres Jesús Daniel</a:t>
            </a:r>
          </a:p>
          <a:p>
            <a:pPr rtl="0"/>
            <a:endParaRPr lang="es-MX" dirty="0"/>
          </a:p>
          <a:p>
            <a:pPr rtl="0"/>
            <a:r>
              <a:rPr lang="es-MX" dirty="0"/>
              <a:t>3°A TI BIS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ED3A57BA-1A49-91FF-1607-CAD80099EB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984" b="39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C71C3DF-4504-3B92-49F0-8E147B67EBB4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563" y="4508500"/>
            <a:ext cx="6221412" cy="1563688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en-US" dirty="0">
                <a:solidFill>
                  <a:schemeClr val="bg1"/>
                </a:solidFill>
              </a:rPr>
              <a:t>The Psych-pedagogy Department experiences time inefficiencies due to the need to manually record and organize appointments and related notes, which significantly slows down their processes.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16" name="Marcador de posición de imagen 15" descr="Icono&#10;&#10;El contenido generado por IA puede ser incorrecto.">
            <a:extLst>
              <a:ext uri="{FF2B5EF4-FFF2-40B4-BE49-F238E27FC236}">
                <a16:creationId xmlns:a16="http://schemas.microsoft.com/office/drawing/2014/main" id="{7BC4BC6E-97E4-FC6C-0159-16F2B1A767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5480" b="15480"/>
          <a:stretch>
            <a:fillRect/>
          </a:stretch>
        </p:blipFill>
        <p:spPr>
          <a:xfrm>
            <a:off x="0" y="0"/>
            <a:ext cx="12192000" cy="4201610"/>
          </a:xfr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rtlCol="0"/>
          <a:lstStyle/>
          <a:p>
            <a:pPr rtl="0"/>
            <a:r>
              <a:rPr lang="es-MX" dirty="0" err="1">
                <a:solidFill>
                  <a:schemeClr val="bg1"/>
                </a:solidFill>
              </a:rPr>
              <a:t>Background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8E2A04B4-D037-450F-D210-3D992B6E5E8F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C15EE852-24F1-4643-8082-AB45CFF2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474061"/>
            <a:ext cx="4674280" cy="3497531"/>
          </a:xfrm>
        </p:spPr>
        <p:txBody>
          <a:bodyPr rtlCol="0">
            <a:normAutofit/>
          </a:bodyPr>
          <a:lstStyle/>
          <a:p>
            <a:pPr rtl="0"/>
            <a:r>
              <a:rPr lang="en-US" dirty="0">
                <a:solidFill>
                  <a:schemeClr val="bg1"/>
                </a:solidFill>
              </a:rPr>
              <a:t>The psych-pedagogy department uses a lot of sheets in order to verify the texts. This was concluded by interviews.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21" name="Marcador de posición de número de diapositiva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3</a:t>
            </a:fld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A6BD05-C26E-BF67-C52A-B09C2803D835}"/>
              </a:ext>
            </a:extLst>
          </p:cNvPr>
          <p:cNvSpPr txBox="1"/>
          <p:nvPr/>
        </p:nvSpPr>
        <p:spPr>
          <a:xfrm>
            <a:off x="5972537" y="1474061"/>
            <a:ext cx="5173883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S (Specific): Design a desktop program for appointment registration, including the procedures required by the educational psychologist.</a:t>
            </a:r>
            <a:endParaRPr lang="es-MX" sz="1800" dirty="0">
              <a:solidFill>
                <a:schemeClr val="bg1"/>
              </a:solidFill>
              <a:effectLst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M (Measurable): A tangible program that accesses a server.</a:t>
            </a:r>
            <a:endParaRPr lang="es-MX" sz="1800" dirty="0">
              <a:solidFill>
                <a:schemeClr val="bg1"/>
              </a:solidFill>
              <a:effectLst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A (Achievable): It is feasible to develop a program based on the available paradigms.</a:t>
            </a:r>
            <a:endParaRPr lang="es-MX" sz="1800" dirty="0">
              <a:solidFill>
                <a:schemeClr val="bg1"/>
              </a:solidFill>
              <a:effectLst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R (Relevant): It is the main project.</a:t>
            </a:r>
            <a:endParaRPr lang="es-MX" sz="1800" dirty="0">
              <a:solidFill>
                <a:schemeClr val="bg1"/>
              </a:solidFill>
              <a:effectLst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bg1"/>
                </a:solidFill>
                <a:effectLst/>
                <a:ea typeface="Aptos" panose="020B0004020202020204" pitchFamily="34" charset="0"/>
              </a:rPr>
              <a:t>T (Time-bound): Deadline: December 2025.</a:t>
            </a:r>
            <a:endParaRPr lang="es-MX" sz="1800" dirty="0">
              <a:solidFill>
                <a:schemeClr val="bg1"/>
              </a:solidFill>
              <a:effectLst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7F48233-3713-D1CF-0BDE-359E300E91D0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3CC9F-BED5-B525-48CC-4A9CA4BD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928867"/>
          </a:xfrm>
        </p:spPr>
        <p:txBody>
          <a:bodyPr/>
          <a:lstStyle/>
          <a:p>
            <a:r>
              <a:rPr lang="es-MX" dirty="0" err="1">
                <a:solidFill>
                  <a:schemeClr val="bg1"/>
                </a:solidFill>
              </a:rPr>
              <a:t>Justification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EF017-E878-0EDA-4CEB-09DD6AF90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1953498"/>
            <a:ext cx="3565524" cy="449492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alpha val="60000"/>
                  </a:schemeClr>
                </a:solidFill>
              </a:rPr>
              <a:t>Recent studies show that mental health issues among university students are common and remain a key operational priority for institutions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676E2C-034A-2D5E-C07F-E4E84B60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4</a:t>
            </a:fld>
            <a:endParaRPr lang="es-MX"/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004EC759-8421-0453-F72D-D280C206C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90" y="826143"/>
            <a:ext cx="6940951" cy="520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0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2052885-4094-1825-5704-EF9609834AD8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55772" y="5398153"/>
            <a:ext cx="1335600" cy="1262947"/>
            <a:chOff x="10145015" y="2343978"/>
            <a:chExt cx="1335600" cy="1262947"/>
          </a:xfrm>
        </p:grpSpPr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791" y="815650"/>
            <a:ext cx="5437186" cy="535354"/>
          </a:xfrm>
        </p:spPr>
        <p:txBody>
          <a:bodyPr rtlCol="0"/>
          <a:lstStyle/>
          <a:p>
            <a:pPr rtl="0"/>
            <a:r>
              <a:rPr lang="es-MX" sz="2800" dirty="0" err="1">
                <a:solidFill>
                  <a:schemeClr val="bg1"/>
                </a:solidFill>
                <a:latin typeface="+mj-lt"/>
              </a:rPr>
              <a:t>Problem</a:t>
            </a:r>
            <a:r>
              <a:rPr lang="es-MX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s-MX" sz="2800" dirty="0" err="1">
                <a:solidFill>
                  <a:schemeClr val="bg1"/>
                </a:solidFill>
                <a:latin typeface="+mj-lt"/>
              </a:rPr>
              <a:t>statement</a:t>
            </a:r>
            <a:endParaRPr lang="es-MX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791" y="1557402"/>
            <a:ext cx="5429114" cy="2121481"/>
          </a:xfrm>
        </p:spPr>
        <p:txBody>
          <a:bodyPr rtlCol="0"/>
          <a:lstStyle/>
          <a:p>
            <a:pPr rtl="0"/>
            <a:r>
              <a:rPr lang="en-US" dirty="0">
                <a:solidFill>
                  <a:schemeClr val="bg1">
                    <a:alpha val="60000"/>
                  </a:schemeClr>
                </a:solidFill>
              </a:rPr>
              <a:t>The Psych-pedagogy Department experiences time inefficiencies due to the need to manually record and organize appointments and related notes, which significantly slows down their processes.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. 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4745" y="815650"/>
            <a:ext cx="5436392" cy="535354"/>
          </a:xfrm>
        </p:spPr>
        <p:txBody>
          <a:bodyPr rtlCol="0"/>
          <a:lstStyle/>
          <a:p>
            <a:pPr rtl="0"/>
            <a:r>
              <a:rPr lang="es-MX" sz="2800" dirty="0" err="1">
                <a:solidFill>
                  <a:schemeClr val="bg1"/>
                </a:solidFill>
                <a:latin typeface="+mj-lt"/>
              </a:rPr>
              <a:t>Proposed</a:t>
            </a:r>
            <a:r>
              <a:rPr lang="es-MX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s-MX" sz="2800" dirty="0" err="1">
                <a:solidFill>
                  <a:schemeClr val="bg1"/>
                </a:solidFill>
                <a:latin typeface="+mj-lt"/>
              </a:rPr>
              <a:t>solution</a:t>
            </a:r>
            <a:endParaRPr lang="es-MX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4746" y="1557403"/>
            <a:ext cx="5242616" cy="2121481"/>
          </a:xfrm>
        </p:spPr>
        <p:txBody>
          <a:bodyPr rtlCol="0"/>
          <a:lstStyle/>
          <a:p>
            <a:pPr rtl="0"/>
            <a:r>
              <a:rPr lang="en-US" dirty="0">
                <a:solidFill>
                  <a:schemeClr val="bg1">
                    <a:alpha val="60000"/>
                  </a:schemeClr>
                </a:solidFill>
              </a:rPr>
              <a:t>The project’s purpose is to bring a tool to the psycho-pedagogy department of the Technological University of Durango for the register of appointments and incidents on the institution.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5</a:t>
            </a:fld>
            <a:endParaRPr lang="es-MX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116868A-9334-2F97-B682-85657086645D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rtlCol="0"/>
          <a:lstStyle/>
          <a:p>
            <a:pPr rtl="0"/>
            <a:r>
              <a:rPr lang="es-MX" dirty="0" err="1">
                <a:solidFill>
                  <a:schemeClr val="bg1"/>
                </a:solidFill>
              </a:rPr>
              <a:t>Results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021494"/>
            <a:ext cx="6221412" cy="2050694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expected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results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are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following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Significative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reduction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of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time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spent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on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appointments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Less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appointments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lost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More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communication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between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psych-pedagogy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department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with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tutors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and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students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6</a:t>
            </a:fld>
            <a:endParaRPr lang="es-MX"/>
          </a:p>
        </p:txBody>
      </p:sp>
      <p:pic>
        <p:nvPicPr>
          <p:cNvPr id="8" name="Marcador de posición de imagen 7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EB898338-8EF1-E104-2D21-67CDB96228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2465" b="2246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 descr="Icono&#10;&#10;El contenido generado por IA puede ser incorrecto.">
            <a:extLst>
              <a:ext uri="{FF2B5EF4-FFF2-40B4-BE49-F238E27FC236}">
                <a16:creationId xmlns:a16="http://schemas.microsoft.com/office/drawing/2014/main" id="{5B4DDAAA-6F4F-A707-E7BD-14BC33E64B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0118" r="10118"/>
          <a:stretch>
            <a:fillRect/>
          </a:stretch>
        </p:blipFill>
        <p:spPr/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128D11-4352-7F3B-1A9F-D62E4522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020030-4A10-AAE6-389A-DD266461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0BE6E8-5A14-E26F-93EC-6FFDF8DA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7</a:t>
            </a:fld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AECBDA9-9057-169B-6A04-CE74CDA2F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Technical</a:t>
            </a:r>
            <a:r>
              <a:rPr lang="es-MX" dirty="0"/>
              <a:t> </a:t>
            </a:r>
            <a:r>
              <a:rPr lang="es-MX" dirty="0" err="1"/>
              <a:t>part</a:t>
            </a:r>
            <a:endParaRPr lang="es-MX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3BAC1C01-96F7-9236-63BC-30D07C196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237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9FAFB59-438C-9C6B-2F59-3BCD52BA2E0D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EA5572-3B33-848B-3921-5EC3032E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Front </a:t>
            </a:r>
            <a:r>
              <a:rPr lang="es-MX" dirty="0" err="1">
                <a:solidFill>
                  <a:schemeClr val="bg1"/>
                </a:solidFill>
              </a:rPr>
              <a:t>end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20CFA0-8D39-DE77-F2FB-88CCE9C14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front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end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Will be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designed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on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Figma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and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drawn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by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Felt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</p:txBody>
      </p:sp>
      <p:pic>
        <p:nvPicPr>
          <p:cNvPr id="11" name="Marcador de posición de imagen 10" descr="Interfaz de usuario gráfica, Logotipo&#10;&#10;El contenido generado por IA puede ser incorrecto.">
            <a:extLst>
              <a:ext uri="{FF2B5EF4-FFF2-40B4-BE49-F238E27FC236}">
                <a16:creationId xmlns:a16="http://schemas.microsoft.com/office/drawing/2014/main" id="{F7CE25BD-11AB-E4F4-13E7-AB3F6EE3FA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1674" r="21674"/>
          <a:stretch>
            <a:fillRect/>
          </a:stretch>
        </p:blipFill>
        <p:spPr/>
      </p:pic>
      <p:pic>
        <p:nvPicPr>
          <p:cNvPr id="13" name="Marcador de posición de imagen 12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DE51DEC1-3FBC-E078-7B98-365ABDB106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3919" r="23919"/>
          <a:stretch>
            <a:fillRect/>
          </a:stretch>
        </p:blipFill>
        <p:spPr/>
      </p:pic>
      <p:pic>
        <p:nvPicPr>
          <p:cNvPr id="15" name="Marcador de posición de imagen 1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B8C3293-1EE3-9A78-6AB0-AF1905BDB4D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9878" r="9878"/>
          <a:stretch>
            <a:fillRect/>
          </a:stretch>
        </p:blipFill>
        <p:spPr/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A7821B-B6D4-0A73-515D-1C8AB7A9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4108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D29B058C-BFD7-7784-D12E-FD8552DC0914}"/>
              </a:ext>
            </a:extLst>
          </p:cNvPr>
          <p:cNvSpPr/>
          <p:nvPr/>
        </p:nvSpPr>
        <p:spPr>
          <a:xfrm>
            <a:off x="92597" y="350788"/>
            <a:ext cx="11898775" cy="65072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E42084-546F-5A71-0C46-CD04F7CB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5436393" cy="1332000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Back </a:t>
            </a:r>
            <a:r>
              <a:rPr lang="es-MX" dirty="0" err="1">
                <a:solidFill>
                  <a:schemeClr val="bg1"/>
                </a:solidFill>
              </a:rPr>
              <a:t>end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23CC8E-60EB-13CC-C236-DE62E5C51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Project Will be </a:t>
            </a:r>
            <a:r>
              <a:rPr lang="es-MX" dirty="0" err="1">
                <a:solidFill>
                  <a:schemeClr val="bg1"/>
                </a:solidFill>
              </a:rPr>
              <a:t>programmed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on</a:t>
            </a:r>
            <a:r>
              <a:rPr lang="es-MX" dirty="0">
                <a:solidFill>
                  <a:schemeClr val="bg1"/>
                </a:solidFill>
              </a:rPr>
              <a:t> Python</a:t>
            </a:r>
          </a:p>
        </p:txBody>
      </p:sp>
      <p:pic>
        <p:nvPicPr>
          <p:cNvPr id="11" name="Marcador de contenido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B00F63A1-E31B-DE40-F2F2-46D0CF70AC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47000" y="2427288"/>
            <a:ext cx="2836976" cy="3516312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3399E5-3FC8-5134-B6ED-4F209A235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1" y="281598"/>
            <a:ext cx="5436392" cy="535354"/>
          </a:xfrm>
        </p:spPr>
        <p:txBody>
          <a:bodyPr/>
          <a:lstStyle/>
          <a:p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database</a:t>
            </a:r>
            <a:r>
              <a:rPr lang="es-MX" dirty="0">
                <a:solidFill>
                  <a:schemeClr val="bg1"/>
                </a:solidFill>
              </a:rPr>
              <a:t> Will be done </a:t>
            </a:r>
            <a:r>
              <a:rPr lang="es-MX" dirty="0" err="1">
                <a:solidFill>
                  <a:schemeClr val="bg1"/>
                </a:solidFill>
              </a:rPr>
              <a:t>on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mysql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13" name="Marcador de contenido 12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C717F342-3AF1-CC93-3C8F-F0DD4B5E91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3541" y="1084629"/>
            <a:ext cx="4974454" cy="5615286"/>
          </a:xfr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623561-AF95-2FBB-9EDC-E6FA2B82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040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312D008-B1D5-204F-4CEF-AF0CF7FC6F29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7EE5DD-9D15-BD21-C608-983E2870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10</a:t>
            </a:fld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557350-036C-3C26-5AFE-904623977EBF}"/>
              </a:ext>
            </a:extLst>
          </p:cNvPr>
          <p:cNvSpPr txBox="1"/>
          <p:nvPr/>
        </p:nvSpPr>
        <p:spPr>
          <a:xfrm>
            <a:off x="3422248" y="0"/>
            <a:ext cx="534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/>
              <a:t>Infraestructure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DBA5A9-6ACB-EA97-C633-227574271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081" y="527458"/>
            <a:ext cx="3699353" cy="6133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4569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 descr="Icono&#10;&#10;El contenido generado por IA puede ser incorrecto.">
            <a:extLst>
              <a:ext uri="{FF2B5EF4-FFF2-40B4-BE49-F238E27FC236}">
                <a16:creationId xmlns:a16="http://schemas.microsoft.com/office/drawing/2014/main" id="{318E1715-B24C-F114-A353-EB2A335986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0118" r="10118"/>
          <a:stretch>
            <a:fillRect/>
          </a:stretch>
        </p:blipFill>
        <p:spPr/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698D47-B951-81EF-BFC8-85B8D694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990B55-23B7-B6A5-43F9-C62C6402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5737AB-33B0-AAE6-4C10-6824D8E7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11</a:t>
            </a:fld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E518FE1-48FC-D207-ED8D-A9902BCBB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Data </a:t>
            </a:r>
            <a:r>
              <a:rPr lang="es-MX" dirty="0" err="1"/>
              <a:t>management</a:t>
            </a:r>
            <a:r>
              <a:rPr lang="es-MX" dirty="0"/>
              <a:t> and legal </a:t>
            </a:r>
            <a:r>
              <a:rPr lang="es-MX" dirty="0" err="1"/>
              <a:t>stuff</a:t>
            </a:r>
            <a:endParaRPr lang="es-MX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D433703-875E-B044-3CBE-2617AFB09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570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A5673087-4954-EED5-AF66-BB4547B79E3E}"/>
              </a:ext>
            </a:extLst>
          </p:cNvPr>
          <p:cNvSpPr/>
          <p:nvPr/>
        </p:nvSpPr>
        <p:spPr>
          <a:xfrm>
            <a:off x="92597" y="350788"/>
            <a:ext cx="11898775" cy="6156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BD08A4-2332-2937-5757-D0C5CCE1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Legal </a:t>
            </a:r>
            <a:r>
              <a:rPr lang="en-US" dirty="0">
                <a:solidFill>
                  <a:schemeClr val="bg1"/>
                </a:solidFill>
              </a:rPr>
              <a:t>procedures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42B8B7-1456-131C-2EC5-15F918789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33BCE5-7525-D5D3-E966-C277741FE6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Project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will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be done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with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data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that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psycho-pedagogy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department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uses in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order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to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get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statistics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by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Education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secretary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,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Technological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and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Polytechnical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universities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and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someone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who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sends</a:t>
            </a:r>
            <a:endParaRPr lang="es-MX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884235-B14F-3023-07E4-0379F18C0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97CCB4-3B31-2FF8-1EDD-2938BEA6FF3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It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was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prioritized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security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within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database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.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There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is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always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risk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of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security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breach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by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human error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426D3F9-D982-C39A-4A07-D2AB17EFB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A30FEEA-1F71-BAB3-8B44-06472570ED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program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as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it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is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does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not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saves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any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data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inside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</a:t>
            </a:r>
            <a:r>
              <a:rPr lang="es-MX" dirty="0" err="1">
                <a:solidFill>
                  <a:schemeClr val="bg1">
                    <a:alpha val="60000"/>
                  </a:schemeClr>
                </a:solidFill>
              </a:rPr>
              <a:t>the</a:t>
            </a:r>
            <a:r>
              <a:rPr lang="es-MX" dirty="0">
                <a:solidFill>
                  <a:schemeClr val="bg1">
                    <a:alpha val="60000"/>
                  </a:schemeClr>
                </a:solidFill>
              </a:rPr>
              <a:t> Project.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82ED099C-8088-7962-B774-84CAE864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C284423C-31DA-8CE7-C8F8-CC02D858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F19D8218-7B21-2953-A956-FC9048C9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830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es-MX" dirty="0" err="1"/>
              <a:t>Conclusion</a:t>
            </a:r>
            <a:endParaRPr lang="es-MX" dirty="0"/>
          </a:p>
        </p:txBody>
      </p:sp>
      <p:pic>
        <p:nvPicPr>
          <p:cNvPr id="27" name="Marcador de posición de imagen 26" descr="Fondo digital de puntos de datos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Marcador de posición de imagen 32" descr="Fondo digital de puntos de datos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6012.tgt.Office_50301380_TF33713516_Win32_OJ112196127" id="{BE9D9199-ABB8-4370-9D20-B54D4B2FD6B3}" vid="{E9DD8443-CC0D-4962-ABD4-763920AE0A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{8117E25C-4FAE-4C11-BEF3-BB1FBEAD5F24}tf33713516_win32</Template>
  <TotalTime>86</TotalTime>
  <Words>437</Words>
  <Application>Microsoft Office PowerPoint</Application>
  <PresentationFormat>Panorámica</PresentationFormat>
  <Paragraphs>65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Gill Sans MT</vt:lpstr>
      <vt:lpstr>Symbol</vt:lpstr>
      <vt:lpstr>Walbaum Display</vt:lpstr>
      <vt:lpstr>3DFloatVTI</vt:lpstr>
      <vt:lpstr>Integrative Project: System for the psycho-pedagogy department</vt:lpstr>
      <vt:lpstr>Background</vt:lpstr>
      <vt:lpstr>The psych-pedagogy department uses a lot of sheets in order to verify the texts. This was concluded by interviews.</vt:lpstr>
      <vt:lpstr>Justification</vt:lpstr>
      <vt:lpstr>Presentación de PowerPoint</vt:lpstr>
      <vt:lpstr>Results</vt:lpstr>
      <vt:lpstr>Technical part</vt:lpstr>
      <vt:lpstr>Front end</vt:lpstr>
      <vt:lpstr>Back end</vt:lpstr>
      <vt:lpstr>Presentación de PowerPoint</vt:lpstr>
      <vt:lpstr>Data management and legal stuff</vt:lpstr>
      <vt:lpstr>Legal procedures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Jesús Barraza</dc:creator>
  <cp:lastModifiedBy>Jesús Barraza</cp:lastModifiedBy>
  <cp:revision>1</cp:revision>
  <dcterms:created xsi:type="dcterms:W3CDTF">2025-12-08T18:06:10Z</dcterms:created>
  <dcterms:modified xsi:type="dcterms:W3CDTF">2025-12-08T19:32:55Z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